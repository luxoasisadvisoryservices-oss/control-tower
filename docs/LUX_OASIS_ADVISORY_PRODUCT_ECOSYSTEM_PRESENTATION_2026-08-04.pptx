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8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621792"/>
            <a:ext cx="5394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F8A5B"/>
                </a:solidFill>
                <a:latin typeface="Aptos"/>
              </a:rPr>
              <a:t>LUX OASIS ADVISORY &amp; SERVICES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60120"/>
            <a:ext cx="7132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7201C"/>
                </a:solidFill>
                <a:latin typeface="Aptos"/>
              </a:rPr>
              <a:t>Product ecosystem for short-term rentals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828800"/>
            <a:ext cx="64008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46544F"/>
                </a:solidFill>
                <a:latin typeface="Aptos"/>
              </a:rPr>
              <a:t>Practical tools, AI workflows and operating systems for STR operators.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" y="2542032"/>
            <a:ext cx="1874519" cy="347472"/>
          </a:xfrm>
          <a:prstGeom prst="roundRect">
            <a:avLst/>
          </a:prstGeom>
          <a:solidFill>
            <a:srgbClr val="1F8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Conviva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40" y="2542032"/>
            <a:ext cx="1874519" cy="3474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Oasis Revenue Lab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64608" y="2542032"/>
            <a:ext cx="1874519" cy="347472"/>
          </a:xfrm>
          <a:prstGeom prst="round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Nest Match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1170432"/>
            <a:ext cx="36118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D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18120" y="1170432"/>
            <a:ext cx="73152" cy="4526280"/>
          </a:xfrm>
          <a:prstGeom prst="rect">
            <a:avLst/>
          </a:prstGeom>
          <a:solidFill>
            <a:srgbClr val="1F8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19872" y="1508760"/>
            <a:ext cx="2971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F8A5B"/>
                </a:solidFill>
                <a:latin typeface="Aptos"/>
              </a:rPr>
              <a:t>Snapshot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048256"/>
            <a:ext cx="2834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6544F"/>
                </a:solidFill>
                <a:latin typeface="Aptos"/>
              </a:rPr>
              <a:t>ROLE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295144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7201C"/>
                </a:solidFill>
                <a:latin typeface="Aptos"/>
              </a:rPr>
              <a:t>Product and advisory company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916936"/>
            <a:ext cx="2834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6544F"/>
                </a:solidFill>
                <a:latin typeface="Aptos"/>
              </a:rPr>
              <a:t>PROOF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163824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7201C"/>
                </a:solidFill>
                <a:latin typeface="Aptos"/>
              </a:rPr>
              <a:t>Built from Lux Oasis operating pain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3785616"/>
            <a:ext cx="2834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6544F"/>
                </a:solidFill>
                <a:latin typeface="Aptos"/>
              </a:rPr>
              <a:t>STAGE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4032504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7201C"/>
                </a:solidFill>
                <a:latin typeface="Aptos"/>
              </a:rPr>
              <a:t>Proof-led buildout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46520"/>
            <a:ext cx="4389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46544F"/>
                </a:solidFill>
                <a:latin typeface="Aptos"/>
              </a:rPr>
              <a:t>Lux Oasis Advisory product ecosystem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446520"/>
            <a:ext cx="502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6544F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8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621792"/>
            <a:ext cx="5394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F8A5B"/>
                </a:solidFill>
                <a:latin typeface="Aptos"/>
              </a:rPr>
              <a:t>MARKET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60120"/>
            <a:ext cx="7132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7201C"/>
                </a:solidFill>
                <a:latin typeface="Aptos"/>
              </a:rPr>
              <a:t>Operators are overloaded by daily decisions.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048256"/>
            <a:ext cx="6629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7201C"/>
                </a:solidFill>
                <a:latin typeface="Aptos"/>
              </a:defRPr>
            </a:pPr>
            <a:r>
              <a:t>Guest communication is fast, repetitive and sensitive.</a:t>
            </a:r>
          </a:p>
          <a:p>
            <a:pPr>
              <a:spcAft>
                <a:spcPts val="800"/>
              </a:spcAft>
              <a:defRPr sz="1500">
                <a:solidFill>
                  <a:srgbClr val="17201C"/>
                </a:solidFill>
                <a:latin typeface="Aptos"/>
              </a:defRPr>
            </a:pPr>
            <a:r>
              <a:t>Revenue management needs judgement, not only dashboards.</a:t>
            </a:r>
          </a:p>
          <a:p>
            <a:pPr>
              <a:spcAft>
                <a:spcPts val="800"/>
              </a:spcAft>
              <a:defRPr sz="1500">
                <a:solidFill>
                  <a:srgbClr val="17201C"/>
                </a:solidFill>
                <a:latin typeface="Aptos"/>
              </a:defRPr>
            </a:pPr>
            <a:r>
              <a:t>Property opportunities and service providers are scattered across chats.</a:t>
            </a:r>
          </a:p>
          <a:p>
            <a:pPr>
              <a:spcAft>
                <a:spcPts val="800"/>
              </a:spcAft>
              <a:defRPr sz="1500">
                <a:solidFill>
                  <a:srgbClr val="17201C"/>
                </a:solidFill>
                <a:latin typeface="Aptos"/>
              </a:defRPr>
            </a:pPr>
            <a:r>
              <a:t>Owners want clarity, proof and fewer surprises.</a:t>
            </a:r>
          </a:p>
          <a:p>
            <a:pPr>
              <a:spcAft>
                <a:spcPts val="800"/>
              </a:spcAft>
              <a:defRPr sz="1500">
                <a:solidFill>
                  <a:srgbClr val="17201C"/>
                </a:solidFill>
                <a:latin typeface="Aptos"/>
              </a:defRPr>
            </a:pPr>
            <a:r>
              <a:t>Small operators need better systems without hiring a full internal tech team.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1170432"/>
            <a:ext cx="36118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D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170432"/>
            <a:ext cx="73152" cy="4526280"/>
          </a:xfrm>
          <a:prstGeom prst="rect">
            <a:avLst/>
          </a:prstGeom>
          <a:solidFill>
            <a:srgbClr val="1F8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19872" y="1508760"/>
            <a:ext cx="2971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F8A5B"/>
                </a:solidFill>
                <a:latin typeface="Aptos"/>
              </a:rPr>
              <a:t>Snapshot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048256"/>
            <a:ext cx="2834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6544F"/>
                </a:solidFill>
                <a:latin typeface="Aptos"/>
              </a:rPr>
              <a:t>PAIN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2295144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7201C"/>
                </a:solidFill>
                <a:latin typeface="Aptos"/>
              </a:rPr>
              <a:t>Communication, revenue and coordination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916936"/>
            <a:ext cx="2834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6544F"/>
                </a:solidFill>
                <a:latin typeface="Aptos"/>
              </a:rPr>
              <a:t>BUYER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3163824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7201C"/>
                </a:solidFill>
                <a:latin typeface="Aptos"/>
              </a:rPr>
              <a:t>STR operators and owners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3785616"/>
            <a:ext cx="2834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6544F"/>
                </a:solidFill>
                <a:latin typeface="Aptos"/>
              </a:rPr>
              <a:t>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4032504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7201C"/>
                </a:solidFill>
                <a:latin typeface="Aptos"/>
              </a:rPr>
              <a:t>Poor replies, missed revenue and manual chaos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46520"/>
            <a:ext cx="4389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46544F"/>
                </a:solidFill>
                <a:latin typeface="Aptos"/>
              </a:rPr>
              <a:t>Lux Oasis Advisory product ecosystem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46520"/>
            <a:ext cx="502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6544F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8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621792"/>
            <a:ext cx="5394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F8A5B"/>
                </a:solidFill>
                <a:latin typeface="Aptos"/>
              </a:rPr>
              <a:t>UMBRELLA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60120"/>
            <a:ext cx="7132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7201C"/>
                </a:solidFill>
                <a:latin typeface="Aptos"/>
              </a:rPr>
              <a:t>Lux Oasis Advisory turns operating pain into products.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048256"/>
            <a:ext cx="6629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7201C"/>
                </a:solidFill>
                <a:latin typeface="Aptos"/>
              </a:defRPr>
            </a:pPr>
            <a:r>
              <a:t>Separate from Lux Oasis Holiday Homes LLC, which remains the operating proof business.</a:t>
            </a:r>
          </a:p>
          <a:p>
            <a:pPr>
              <a:spcAft>
                <a:spcPts val="800"/>
              </a:spcAft>
              <a:defRPr sz="1700">
                <a:solidFill>
                  <a:srgbClr val="17201C"/>
                </a:solidFill>
                <a:latin typeface="Aptos"/>
              </a:defRPr>
            </a:pPr>
            <a:r>
              <a:t>Uses real holiday-home workflows as the source of product insight.</a:t>
            </a:r>
          </a:p>
          <a:p>
            <a:pPr>
              <a:spcAft>
                <a:spcPts val="800"/>
              </a:spcAft>
              <a:defRPr sz="1700">
                <a:solidFill>
                  <a:srgbClr val="17201C"/>
                </a:solidFill>
                <a:latin typeface="Aptos"/>
              </a:defRPr>
            </a:pPr>
            <a:r>
              <a:t>Builds guest-ops, revenue, marketplace and agent operating-system layers.</a:t>
            </a:r>
          </a:p>
          <a:p>
            <a:pPr>
              <a:spcAft>
                <a:spcPts val="800"/>
              </a:spcAft>
              <a:defRPr sz="1700">
                <a:solidFill>
                  <a:srgbClr val="17201C"/>
                </a:solidFill>
                <a:latin typeface="Aptos"/>
              </a:defRPr>
            </a:pPr>
            <a:r>
              <a:t>Starts service-led, then productises workflows that repeat.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1170432"/>
            <a:ext cx="36118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D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170432"/>
            <a:ext cx="73152" cy="4526280"/>
          </a:xfrm>
          <a:prstGeom prst="rect">
            <a:avLst/>
          </a:prstGeom>
          <a:solidFill>
            <a:srgbClr val="1F8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19872" y="1508760"/>
            <a:ext cx="2971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F8A5B"/>
                </a:solidFill>
                <a:latin typeface="Aptos"/>
              </a:rPr>
              <a:t>Snapshot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048256"/>
            <a:ext cx="2834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6544F"/>
                </a:solidFill>
                <a:latin typeface="Aptos"/>
              </a:rPr>
              <a:t>OPERATING PROOF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2295144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7201C"/>
                </a:solidFill>
                <a:latin typeface="Aptos"/>
              </a:rPr>
              <a:t>Lux Oasis Holiday Homes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916936"/>
            <a:ext cx="2834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6544F"/>
                </a:solidFill>
                <a:latin typeface="Aptos"/>
              </a:rPr>
              <a:t>PRODUCT ENTITY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3163824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7201C"/>
                </a:solidFill>
                <a:latin typeface="Aptos"/>
              </a:rPr>
              <a:t>Lux Oasis Advisory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3785616"/>
            <a:ext cx="2834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6544F"/>
                </a:solidFill>
                <a:latin typeface="Aptos"/>
              </a:rPr>
              <a:t>METHOD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4032504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7201C"/>
                </a:solidFill>
                <a:latin typeface="Aptos"/>
              </a:rPr>
              <a:t>Prove, package, then scale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46520"/>
            <a:ext cx="4389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46544F"/>
                </a:solidFill>
                <a:latin typeface="Aptos"/>
              </a:rPr>
              <a:t>Lux Oasis Advisory product ecosystem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46520"/>
            <a:ext cx="502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6544F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8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621792"/>
            <a:ext cx="5394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F8A5B"/>
                </a:solidFill>
                <a:latin typeface="Aptos"/>
              </a:rPr>
              <a:t>CONVIVA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60120"/>
            <a:ext cx="7132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7201C"/>
                </a:solidFill>
                <a:latin typeface="Aptos"/>
              </a:rPr>
              <a:t>Supervised guest communication for STR operators.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048256"/>
            <a:ext cx="6629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7201C"/>
                </a:solidFill>
                <a:latin typeface="Aptos"/>
              </a:defRPr>
            </a:pPr>
            <a:r>
              <a:t>Answers common guest questions from property-specific knowledge.</a:t>
            </a:r>
          </a:p>
          <a:p>
            <a:pPr>
              <a:spcAft>
                <a:spcPts val="800"/>
              </a:spcAft>
              <a:defRPr sz="1500">
                <a:solidFill>
                  <a:srgbClr val="17201C"/>
                </a:solidFill>
                <a:latin typeface="Aptos"/>
              </a:defRPr>
            </a:pPr>
            <a:r>
              <a:t>Supports check-in, access, parking, amenities and maintenance questions.</a:t>
            </a:r>
          </a:p>
          <a:p>
            <a:pPr>
              <a:spcAft>
                <a:spcPts val="800"/>
              </a:spcAft>
              <a:defRPr sz="1500">
                <a:solidFill>
                  <a:srgbClr val="17201C"/>
                </a:solidFill>
                <a:latin typeface="Aptos"/>
              </a:defRPr>
            </a:pPr>
            <a:r>
              <a:t>Escalates risky or unclear cases instead of guessing.</a:t>
            </a:r>
          </a:p>
          <a:p>
            <a:pPr>
              <a:spcAft>
                <a:spcPts val="800"/>
              </a:spcAft>
              <a:defRPr sz="1500">
                <a:solidFill>
                  <a:srgbClr val="17201C"/>
                </a:solidFill>
                <a:latin typeface="Aptos"/>
              </a:defRPr>
            </a:pPr>
            <a:r>
              <a:t>Keeps humans in control where judgement is needed.</a:t>
            </a:r>
          </a:p>
          <a:p>
            <a:pPr>
              <a:spcAft>
                <a:spcPts val="800"/>
              </a:spcAft>
              <a:defRPr sz="1500">
                <a:solidFill>
                  <a:srgbClr val="17201C"/>
                </a:solidFill>
                <a:latin typeface="Aptos"/>
              </a:defRPr>
            </a:pPr>
            <a:r>
              <a:t>Gives operators dashboard visibility into conversations and intervention needs.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1170432"/>
            <a:ext cx="36118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D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170432"/>
            <a:ext cx="73152" cy="4526280"/>
          </a:xfrm>
          <a:prstGeom prst="rect">
            <a:avLst/>
          </a:prstGeom>
          <a:solidFill>
            <a:srgbClr val="1F8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19872" y="1508760"/>
            <a:ext cx="2971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F8A5B"/>
                </a:solidFill>
                <a:latin typeface="Aptos"/>
              </a:rPr>
              <a:t>Snapshot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048256"/>
            <a:ext cx="2834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6544F"/>
                </a:solidFill>
                <a:latin typeface="Aptos"/>
              </a:rPr>
              <a:t>OFFER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2295144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7201C"/>
                </a:solidFill>
                <a:latin typeface="Aptos"/>
              </a:rPr>
              <a:t>Guest-ops assistant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916936"/>
            <a:ext cx="2834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6544F"/>
                </a:solidFill>
                <a:latin typeface="Aptos"/>
              </a:rPr>
              <a:t>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3163824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7201C"/>
                </a:solidFill>
                <a:latin typeface="Aptos"/>
              </a:rPr>
              <a:t>Supervised, not reckless automation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3785616"/>
            <a:ext cx="2834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6544F"/>
                </a:solidFill>
                <a:latin typeface="Aptos"/>
              </a:rPr>
              <a:t>PILOT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4032504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7201C"/>
                </a:solidFill>
                <a:latin typeface="Aptos"/>
              </a:rPr>
              <a:t>1-5 units after proof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46520"/>
            <a:ext cx="4389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46544F"/>
                </a:solidFill>
                <a:latin typeface="Aptos"/>
              </a:rPr>
              <a:t>Lux Oasis Advisory product ecosystem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46520"/>
            <a:ext cx="502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6544F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8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621792"/>
            <a:ext cx="5394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2563EB"/>
                </a:solidFill>
                <a:latin typeface="Aptos"/>
              </a:rPr>
              <a:t>OASIS REVENUE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60120"/>
            <a:ext cx="7132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7201C"/>
                </a:solidFill>
                <a:latin typeface="Aptos"/>
              </a:rPr>
              <a:t>Revenue judgement and owner-ready reporting.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048256"/>
            <a:ext cx="6629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7201C"/>
                </a:solidFill>
                <a:latin typeface="Aptos"/>
              </a:defRPr>
            </a:pPr>
            <a:r>
              <a:t>Not a PriceLabs clone. PriceLabs is the pricing engine.</a:t>
            </a:r>
          </a:p>
          <a:p>
            <a:pPr>
              <a:spcAft>
                <a:spcPts val="800"/>
              </a:spcAft>
              <a:defRPr sz="1500">
                <a:solidFill>
                  <a:srgbClr val="17201C"/>
                </a:solidFill>
                <a:latin typeface="Aptos"/>
              </a:defRPr>
            </a:pPr>
            <a:r>
              <a:t>ORL turns PriceLabs, PMS truth, owner goals and Damiano's judgement into decisions.</a:t>
            </a:r>
          </a:p>
          <a:p>
            <a:pPr>
              <a:spcAft>
                <a:spcPts val="800"/>
              </a:spcAft>
              <a:defRPr sz="1500">
                <a:solidFill>
                  <a:srgbClr val="17201C"/>
                </a:solidFill>
                <a:latin typeface="Aptos"/>
              </a:defRPr>
            </a:pPr>
            <a:r>
              <a:t>Captures goals per listing and compares actual performance against them.</a:t>
            </a:r>
          </a:p>
          <a:p>
            <a:pPr>
              <a:spcAft>
                <a:spcPts val="800"/>
              </a:spcAft>
              <a:defRPr sz="1500">
                <a:solidFill>
                  <a:srgbClr val="17201C"/>
                </a:solidFill>
                <a:latin typeface="Aptos"/>
              </a:defRPr>
            </a:pPr>
            <a:r>
              <a:t>Diagnoses pace, gaps, visibility and listing-health issues.</a:t>
            </a:r>
          </a:p>
          <a:p>
            <a:pPr>
              <a:spcAft>
                <a:spcPts val="800"/>
              </a:spcAft>
              <a:defRPr sz="1500">
                <a:solidFill>
                  <a:srgbClr val="17201C"/>
                </a:solidFill>
                <a:latin typeface="Aptos"/>
              </a:defRPr>
            </a:pPr>
            <a:r>
              <a:t>Creates daily command cards, recommendation ledgers and owner-ready reports.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1170432"/>
            <a:ext cx="36118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D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170432"/>
            <a:ext cx="73152" cy="4526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19872" y="1508760"/>
            <a:ext cx="2971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563EB"/>
                </a:solidFill>
                <a:latin typeface="Aptos"/>
              </a:rPr>
              <a:t>Snapshot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048256"/>
            <a:ext cx="2834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6544F"/>
                </a:solidFill>
                <a:latin typeface="Aptos"/>
              </a:rPr>
              <a:t>OFFER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2295144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7201C"/>
                </a:solidFill>
                <a:latin typeface="Aptos"/>
              </a:rPr>
              <a:t>Revenue operator plus AI desk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916936"/>
            <a:ext cx="2834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6544F"/>
                </a:solidFill>
                <a:latin typeface="Aptos"/>
              </a:rPr>
              <a:t>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3163824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7201C"/>
                </a:solidFill>
                <a:latin typeface="Aptos"/>
              </a:rPr>
              <a:t>Goal-to-action loop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3785616"/>
            <a:ext cx="2834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6544F"/>
                </a:solidFill>
                <a:latin typeface="Aptos"/>
              </a:rPr>
              <a:t>GATE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4032504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7201C"/>
                </a:solidFill>
                <a:latin typeface="Aptos"/>
              </a:rPr>
              <a:t>RevenueState truth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46520"/>
            <a:ext cx="4389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46544F"/>
                </a:solidFill>
                <a:latin typeface="Aptos"/>
              </a:rPr>
              <a:t>Lux Oasis Advisory product ecosystem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46520"/>
            <a:ext cx="502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6544F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8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621792"/>
            <a:ext cx="5394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D9A441"/>
                </a:solidFill>
                <a:latin typeface="Aptos"/>
              </a:rPr>
              <a:t>NEST MATCH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60120"/>
            <a:ext cx="7132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7201C"/>
                </a:solidFill>
                <a:latin typeface="Aptos"/>
              </a:rPr>
              <a:t>The private operator network for short-term rentals.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048256"/>
            <a:ext cx="6629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7201C"/>
                </a:solidFill>
                <a:latin typeface="Aptos"/>
              </a:defRPr>
            </a:pPr>
            <a:r>
              <a:t>Marketplace and coordination layer above the ecosystem.</a:t>
            </a:r>
          </a:p>
          <a:p>
            <a:pPr>
              <a:spcAft>
                <a:spcPts val="800"/>
              </a:spcAft>
              <a:defRPr sz="1500">
                <a:solidFill>
                  <a:srgbClr val="17201C"/>
                </a:solidFill>
                <a:latin typeface="Aptos"/>
              </a:defRPr>
            </a:pPr>
            <a:r>
              <a:t>Connects operators, owners, agents, service providers and property opportunities.</a:t>
            </a:r>
          </a:p>
          <a:p>
            <a:pPr>
              <a:spcAft>
                <a:spcPts val="800"/>
              </a:spcAft>
              <a:defRPr sz="1500">
                <a:solidFill>
                  <a:srgbClr val="17201C"/>
                </a:solidFill>
                <a:latin typeface="Aptos"/>
              </a:defRPr>
            </a:pPr>
            <a:r>
              <a:t>Inventory Board for units, empty nights, service requests and operator needs.</a:t>
            </a:r>
          </a:p>
          <a:p>
            <a:pPr>
              <a:spcAft>
                <a:spcPts val="800"/>
              </a:spcAft>
              <a:defRPr sz="1500">
                <a:solidFill>
                  <a:srgbClr val="17201C"/>
                </a:solidFill>
                <a:latin typeface="Aptos"/>
              </a:defRPr>
            </a:pPr>
            <a:r>
              <a:t>Dubai is the first proof market.</a:t>
            </a:r>
          </a:p>
          <a:p>
            <a:pPr>
              <a:spcAft>
                <a:spcPts val="800"/>
              </a:spcAft>
              <a:defRPr sz="1500">
                <a:solidFill>
                  <a:srgbClr val="17201C"/>
                </a:solidFill>
                <a:latin typeface="Aptos"/>
              </a:defRPr>
            </a:pPr>
            <a:r>
              <a:t>Global-capable architecture, but liquidity should launch city by city.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1170432"/>
            <a:ext cx="36118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D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170432"/>
            <a:ext cx="73152" cy="4526280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19872" y="1508760"/>
            <a:ext cx="2971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D9A441"/>
                </a:solidFill>
                <a:latin typeface="Aptos"/>
              </a:rPr>
              <a:t>Snapshot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048256"/>
            <a:ext cx="2834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6544F"/>
                </a:solidFill>
                <a:latin typeface="Aptos"/>
              </a:rPr>
              <a:t>OFFER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2295144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7201C"/>
                </a:solidFill>
                <a:latin typeface="Aptos"/>
              </a:rPr>
              <a:t>Private operator network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916936"/>
            <a:ext cx="2834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6544F"/>
                </a:solidFill>
                <a:latin typeface="Aptos"/>
              </a:rPr>
              <a:t>MARKET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3163824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7201C"/>
                </a:solidFill>
                <a:latin typeface="Aptos"/>
              </a:rPr>
              <a:t>Dubai first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3785616"/>
            <a:ext cx="2834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6544F"/>
                </a:solidFill>
                <a:latin typeface="Aptos"/>
              </a:rPr>
              <a:t>GATE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4032504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7201C"/>
                </a:solidFill>
                <a:latin typeface="Aptos"/>
              </a:rPr>
              <a:t>P0 safety fixes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46520"/>
            <a:ext cx="4389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46544F"/>
                </a:solidFill>
                <a:latin typeface="Aptos"/>
              </a:rPr>
              <a:t>Lux Oasis Advisory product ecosystem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46520"/>
            <a:ext cx="502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6544F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8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621792"/>
            <a:ext cx="5394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F8A5B"/>
                </a:solidFill>
                <a:latin typeface="Aptos"/>
              </a:rPr>
              <a:t>ECOSYSTEM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60120"/>
            <a:ext cx="7132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7201C"/>
                </a:solidFill>
                <a:latin typeface="Aptos"/>
              </a:rPr>
              <a:t>Three products, three daily STR pains.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048256"/>
            <a:ext cx="6629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7201C"/>
                </a:solidFill>
                <a:latin typeface="Aptos"/>
              </a:defRPr>
            </a:pPr>
            <a:r>
              <a:t>Conviva handles guest operations and communication.</a:t>
            </a:r>
          </a:p>
          <a:p>
            <a:pPr>
              <a:spcAft>
                <a:spcPts val="800"/>
              </a:spcAft>
              <a:defRPr sz="1500">
                <a:solidFill>
                  <a:srgbClr val="17201C"/>
                </a:solidFill>
                <a:latin typeface="Aptos"/>
              </a:defRPr>
            </a:pPr>
            <a:r>
              <a:t>Oasis Revenue Lab handles revenue decisions and owner reporting.</a:t>
            </a:r>
          </a:p>
          <a:p>
            <a:pPr>
              <a:spcAft>
                <a:spcPts val="800"/>
              </a:spcAft>
              <a:defRPr sz="1500">
                <a:solidFill>
                  <a:srgbClr val="17201C"/>
                </a:solidFill>
                <a:latin typeface="Aptos"/>
              </a:defRPr>
            </a:pPr>
            <a:r>
              <a:t>Nest Match handles market coordination and trusted network access.</a:t>
            </a:r>
          </a:p>
          <a:p>
            <a:pPr>
              <a:spcAft>
                <a:spcPts val="800"/>
              </a:spcAft>
              <a:defRPr sz="1500">
                <a:solidFill>
                  <a:srgbClr val="17201C"/>
                </a:solidFill>
                <a:latin typeface="Aptos"/>
              </a:defRPr>
            </a:pPr>
            <a:r>
              <a:t>Together they create an operating ecosystem for smaller STR businesses.</a:t>
            </a:r>
          </a:p>
          <a:p>
            <a:pPr>
              <a:spcAft>
                <a:spcPts val="800"/>
              </a:spcAft>
              <a:defRPr sz="1500">
                <a:solidFill>
                  <a:srgbClr val="17201C"/>
                </a:solidFill>
                <a:latin typeface="Aptos"/>
              </a:defRPr>
            </a:pPr>
            <a:r>
              <a:t>The shared advantage is real Lux Oasis workflow knowledge.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1170432"/>
            <a:ext cx="36118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D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170432"/>
            <a:ext cx="73152" cy="4526280"/>
          </a:xfrm>
          <a:prstGeom prst="rect">
            <a:avLst/>
          </a:prstGeom>
          <a:solidFill>
            <a:srgbClr val="1F8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19872" y="1508760"/>
            <a:ext cx="2971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F8A5B"/>
                </a:solidFill>
                <a:latin typeface="Aptos"/>
              </a:rPr>
              <a:t>Snapshot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048256"/>
            <a:ext cx="2834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6544F"/>
                </a:solidFill>
                <a:latin typeface="Aptos"/>
              </a:rPr>
              <a:t>CONVIVA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2295144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7201C"/>
                </a:solidFill>
                <a:latin typeface="Aptos"/>
              </a:rPr>
              <a:t>Guest 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916936"/>
            <a:ext cx="2834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6544F"/>
                </a:solidFill>
                <a:latin typeface="Aptos"/>
              </a:rPr>
              <a:t>ORL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3163824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7201C"/>
                </a:solidFill>
                <a:latin typeface="Aptos"/>
              </a:rPr>
              <a:t>Revenue decisions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3785616"/>
            <a:ext cx="2834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6544F"/>
                </a:solidFill>
                <a:latin typeface="Aptos"/>
              </a:rPr>
              <a:t>NEST MATCH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4032504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7201C"/>
                </a:solidFill>
                <a:latin typeface="Aptos"/>
              </a:rPr>
              <a:t>Coordination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46520"/>
            <a:ext cx="4389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46544F"/>
                </a:solidFill>
                <a:latin typeface="Aptos"/>
              </a:rPr>
              <a:t>Lux Oasis Advisory product ecosystem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46520"/>
            <a:ext cx="502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6544F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8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621792"/>
            <a:ext cx="5394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B42318"/>
                </a:solidFill>
                <a:latin typeface="Aptos"/>
              </a:rPr>
              <a:t>CURRENT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60120"/>
            <a:ext cx="7132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7201C"/>
                </a:solidFill>
                <a:latin typeface="Aptos"/>
              </a:rPr>
              <a:t>Real direction, different readiness by product.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048256"/>
            <a:ext cx="6629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7201C"/>
                </a:solidFill>
                <a:latin typeface="Aptos"/>
              </a:defRPr>
            </a:pPr>
            <a:r>
              <a:t>Conviva: Hostaway/data path is no longer the main blocker; dashboard add/edit and polish still need completion.</a:t>
            </a:r>
          </a:p>
          <a:p>
            <a:pPr>
              <a:spcAft>
                <a:spcPts val="800"/>
              </a:spcAft>
              <a:defRPr sz="1700">
                <a:solidFill>
                  <a:srgbClr val="17201C"/>
                </a:solidFill>
                <a:latin typeface="Aptos"/>
              </a:defRPr>
            </a:pPr>
            <a:r>
              <a:t>Oasis Revenue Lab: thesis is clear; needs RevenueState truth, PriceLabs read-only connector and PMS reconciliation.</a:t>
            </a:r>
          </a:p>
          <a:p>
            <a:pPr>
              <a:spcAft>
                <a:spcPts val="800"/>
              </a:spcAft>
              <a:defRPr sz="1700">
                <a:solidFill>
                  <a:srgbClr val="17201C"/>
                </a:solidFill>
                <a:latin typeface="Aptos"/>
              </a:defRPr>
            </a:pPr>
            <a:r>
              <a:t>Nest Match: homepage and private beta signal are good enough; payment-success gating and browse error remain P0 blockers.</a:t>
            </a:r>
          </a:p>
          <a:p>
            <a:pPr>
              <a:spcAft>
                <a:spcPts val="800"/>
              </a:spcAft>
              <a:defRPr sz="1700">
                <a:solidFill>
                  <a:srgbClr val="17201C"/>
                </a:solidFill>
                <a:latin typeface="Aptos"/>
              </a:defRPr>
            </a:pPr>
            <a:r>
              <a:t>All three need proof-led packaging before broad claims.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1170432"/>
            <a:ext cx="36118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D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170432"/>
            <a:ext cx="73152" cy="452628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19872" y="1508760"/>
            <a:ext cx="2971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B42318"/>
                </a:solidFill>
                <a:latin typeface="Aptos"/>
              </a:rPr>
              <a:t>Snapshot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048256"/>
            <a:ext cx="2834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6544F"/>
                </a:solidFill>
                <a:latin typeface="Aptos"/>
              </a:rPr>
              <a:t>READINESS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2295144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7201C"/>
                </a:solidFill>
                <a:latin typeface="Aptos"/>
              </a:rPr>
              <a:t>Mixed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916936"/>
            <a:ext cx="2834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6544F"/>
                </a:solidFill>
                <a:latin typeface="Aptos"/>
              </a:rPr>
              <a:t>LAUNCH STYLE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3163824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7201C"/>
                </a:solidFill>
                <a:latin typeface="Aptos"/>
              </a:rPr>
              <a:t>Controlled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3785616"/>
            <a:ext cx="2834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6544F"/>
                </a:solidFill>
                <a:latin typeface="Aptos"/>
              </a:rPr>
              <a:t>RULE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4032504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7201C"/>
                </a:solidFill>
                <a:latin typeface="Aptos"/>
              </a:rPr>
              <a:t>No overclaiming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46520"/>
            <a:ext cx="4389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46544F"/>
                </a:solidFill>
                <a:latin typeface="Aptos"/>
              </a:rPr>
              <a:t>Lux Oasis Advisory product ecosystem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46520"/>
            <a:ext cx="502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6544F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8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621792"/>
            <a:ext cx="5394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F8A5B"/>
                </a:solidFill>
                <a:latin typeface="Aptos"/>
              </a:rPr>
              <a:t>COMMERCIAL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60120"/>
            <a:ext cx="7132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7201C"/>
                </a:solidFill>
                <a:latin typeface="Aptos"/>
              </a:rPr>
              <a:t>Start service-led, then productise what repeats.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048256"/>
            <a:ext cx="6629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7201C"/>
                </a:solidFill>
                <a:latin typeface="Aptos"/>
              </a:defRPr>
            </a:pPr>
            <a:r>
              <a:t>Conviva: controlled pilot for 1-5 units, then per-unit pricing after proof.</a:t>
            </a:r>
          </a:p>
          <a:p>
            <a:pPr>
              <a:spcAft>
                <a:spcPts val="800"/>
              </a:spcAft>
              <a:defRPr sz="1700">
                <a:solidFill>
                  <a:srgbClr val="17201C"/>
                </a:solidFill>
                <a:latin typeface="Aptos"/>
              </a:defRPr>
            </a:pPr>
            <a:r>
              <a:t>Oasis Revenue Lab: revenue leak audit, Revenue Manager Plus, then AI Revenue Desk.</a:t>
            </a:r>
          </a:p>
          <a:p>
            <a:pPr>
              <a:spcAft>
                <a:spcPts val="800"/>
              </a:spcAft>
              <a:defRPr sz="1700">
                <a:solidFill>
                  <a:srgbClr val="17201C"/>
                </a:solidFill>
                <a:latin typeface="Aptos"/>
              </a:defRPr>
            </a:pPr>
            <a:r>
              <a:t>Nest Match: controlled Dubai beta, free first conversations, then Pro/Premium after liquidity exists.</a:t>
            </a:r>
          </a:p>
          <a:p>
            <a:pPr>
              <a:spcAft>
                <a:spcPts val="800"/>
              </a:spcAft>
              <a:defRPr sz="1700">
                <a:solidFill>
                  <a:srgbClr val="17201C"/>
                </a:solidFill>
                <a:latin typeface="Aptos"/>
              </a:defRPr>
            </a:pPr>
            <a:r>
              <a:t>Early revenue should come from focused pilots and advisory-backed implementation, not mass-market hype.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1170432"/>
            <a:ext cx="36118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D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170432"/>
            <a:ext cx="73152" cy="4526280"/>
          </a:xfrm>
          <a:prstGeom prst="rect">
            <a:avLst/>
          </a:prstGeom>
          <a:solidFill>
            <a:srgbClr val="1F8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19872" y="1508760"/>
            <a:ext cx="2971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F8A5B"/>
                </a:solidFill>
                <a:latin typeface="Aptos"/>
              </a:rPr>
              <a:t>Snapshot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048256"/>
            <a:ext cx="2834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6544F"/>
                </a:solidFill>
                <a:latin typeface="Aptos"/>
              </a:rPr>
              <a:t>FIRST MONEY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2295144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7201C"/>
                </a:solidFill>
                <a:latin typeface="Aptos"/>
              </a:rPr>
              <a:t>Pilots and audits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916936"/>
            <a:ext cx="2834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6544F"/>
                </a:solidFill>
                <a:latin typeface="Aptos"/>
              </a:rPr>
              <a:t>THEN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3163824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7201C"/>
                </a:solidFill>
                <a:latin typeface="Aptos"/>
              </a:rPr>
              <a:t>Repeatable product layers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3785616"/>
            <a:ext cx="2834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6544F"/>
                </a:solidFill>
                <a:latin typeface="Aptos"/>
              </a:rPr>
              <a:t>AVOID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4032504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7201C"/>
                </a:solidFill>
                <a:latin typeface="Aptos"/>
              </a:rPr>
              <a:t>Premature broad launch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46520"/>
            <a:ext cx="4389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46544F"/>
                </a:solidFill>
                <a:latin typeface="Aptos"/>
              </a:rPr>
              <a:t>Lux Oasis Advisory product ecosystem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46520"/>
            <a:ext cx="502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6544F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8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621792"/>
            <a:ext cx="5394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B42318"/>
                </a:solidFill>
                <a:latin typeface="Aptos"/>
              </a:rPr>
              <a:t>SAFETY AND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60120"/>
            <a:ext cx="7132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7201C"/>
                </a:solidFill>
                <a:latin typeface="Aptos"/>
              </a:rPr>
              <a:t>The products touch reputation, money and guest experience.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048256"/>
            <a:ext cx="6629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7201C"/>
                </a:solidFill>
                <a:latin typeface="Aptos"/>
              </a:defRPr>
            </a:pPr>
            <a:r>
              <a:t>No autonomous refunds, discounts or sensitive guest promises.</a:t>
            </a:r>
          </a:p>
          <a:p>
            <a:pPr>
              <a:spcAft>
                <a:spcPts val="800"/>
              </a:spcAft>
              <a:defRPr sz="1500">
                <a:solidFill>
                  <a:srgbClr val="17201C"/>
                </a:solidFill>
                <a:latin typeface="Aptos"/>
              </a:defRPr>
            </a:pPr>
            <a:r>
              <a:t>No live pricing changes without approval.</a:t>
            </a:r>
          </a:p>
          <a:p>
            <a:pPr>
              <a:spcAft>
                <a:spcPts val="800"/>
              </a:spcAft>
              <a:defRPr sz="1500">
                <a:solidFill>
                  <a:srgbClr val="17201C"/>
                </a:solidFill>
                <a:latin typeface="Aptos"/>
              </a:defRPr>
            </a:pPr>
            <a:r>
              <a:t>No legal-template claims without legal review.</a:t>
            </a:r>
          </a:p>
          <a:p>
            <a:pPr>
              <a:spcAft>
                <a:spcPts val="800"/>
              </a:spcAft>
              <a:defRPr sz="1500">
                <a:solidFill>
                  <a:srgbClr val="17201C"/>
                </a:solidFill>
                <a:latin typeface="Aptos"/>
              </a:defRPr>
            </a:pPr>
            <a:r>
              <a:t>No fake payment success or unverified subscription state.</a:t>
            </a:r>
          </a:p>
          <a:p>
            <a:pPr>
              <a:spcAft>
                <a:spcPts val="800"/>
              </a:spcAft>
              <a:defRPr sz="1500">
                <a:solidFill>
                  <a:srgbClr val="17201C"/>
                </a:solidFill>
                <a:latin typeface="Aptos"/>
              </a:defRPr>
            </a:pPr>
            <a:r>
              <a:t>No public screenshots with private guest data.</a:t>
            </a:r>
          </a:p>
          <a:p>
            <a:pPr>
              <a:spcAft>
                <a:spcPts val="800"/>
              </a:spcAft>
              <a:defRPr sz="1500">
                <a:solidFill>
                  <a:srgbClr val="17201C"/>
                </a:solidFill>
                <a:latin typeface="Aptos"/>
              </a:defRPr>
            </a:pPr>
            <a:r>
              <a:t>No broad traffic before core loops pass QA.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1170432"/>
            <a:ext cx="36118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D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170432"/>
            <a:ext cx="73152" cy="452628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19872" y="1508760"/>
            <a:ext cx="2971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B42318"/>
                </a:solidFill>
                <a:latin typeface="Aptos"/>
              </a:rPr>
              <a:t>Snapshot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048256"/>
            <a:ext cx="2834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6544F"/>
                </a:solidFill>
                <a:latin typeface="Aptos"/>
              </a:rPr>
              <a:t>GUEST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2295144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7201C"/>
                </a:solidFill>
                <a:latin typeface="Aptos"/>
              </a:rPr>
              <a:t>Escalate unclear cases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916936"/>
            <a:ext cx="2834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6544F"/>
                </a:solidFill>
                <a:latin typeface="Aptos"/>
              </a:rPr>
              <a:t>MONEY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3163824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7201C"/>
                </a:solidFill>
                <a:latin typeface="Aptos"/>
              </a:rPr>
              <a:t>Approval-gated changes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3785616"/>
            <a:ext cx="2834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6544F"/>
                </a:solidFill>
                <a:latin typeface="Aptos"/>
              </a:rPr>
              <a:t>LEGAL 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4032504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7201C"/>
                </a:solidFill>
                <a:latin typeface="Aptos"/>
              </a:rPr>
              <a:t>Review before claims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46520"/>
            <a:ext cx="4389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46544F"/>
                </a:solidFill>
                <a:latin typeface="Aptos"/>
              </a:rPr>
              <a:t>Lux Oasis Advisory product ecosystem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46520"/>
            <a:ext cx="502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6544F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8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621792"/>
            <a:ext cx="5394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F8A5B"/>
                </a:solidFill>
                <a:latin typeface="Aptos"/>
              </a:rPr>
              <a:t>WHY IT CAN MATTER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60120"/>
            <a:ext cx="7132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7201C"/>
                </a:solidFill>
                <a:latin typeface="Aptos"/>
              </a:rPr>
              <a:t>Operators need operating systems, not just more dashboards.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048256"/>
            <a:ext cx="6629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7201C"/>
                </a:solidFill>
                <a:latin typeface="Aptos"/>
              </a:defRPr>
            </a:pPr>
            <a:r>
              <a:t>Lux Oasis has real operator proof and daily exposure to the pain.</a:t>
            </a:r>
          </a:p>
          <a:p>
            <a:pPr>
              <a:spcAft>
                <a:spcPts val="800"/>
              </a:spcAft>
              <a:defRPr sz="1500">
                <a:solidFill>
                  <a:srgbClr val="17201C"/>
                </a:solidFill>
                <a:latin typeface="Aptos"/>
              </a:defRPr>
            </a:pPr>
            <a:r>
              <a:t>The products are built from workflow problems, not abstract software theory.</a:t>
            </a:r>
          </a:p>
          <a:p>
            <a:pPr>
              <a:spcAft>
                <a:spcPts val="800"/>
              </a:spcAft>
              <a:defRPr sz="1500">
                <a:solidFill>
                  <a:srgbClr val="17201C"/>
                </a:solidFill>
                <a:latin typeface="Aptos"/>
              </a:defRPr>
            </a:pPr>
            <a:r>
              <a:t>Damiano brings revenue-management judgement and operator context.</a:t>
            </a:r>
          </a:p>
          <a:p>
            <a:pPr>
              <a:spcAft>
                <a:spcPts val="800"/>
              </a:spcAft>
              <a:defRPr sz="1500">
                <a:solidFill>
                  <a:srgbClr val="17201C"/>
                </a:solidFill>
                <a:latin typeface="Aptos"/>
              </a:defRPr>
            </a:pPr>
            <a:r>
              <a:t>AI and automation sit behind practical decisions, not as the main promise.</a:t>
            </a:r>
          </a:p>
          <a:p>
            <a:pPr>
              <a:spcAft>
                <a:spcPts val="800"/>
              </a:spcAft>
              <a:defRPr sz="1500">
                <a:solidFill>
                  <a:srgbClr val="17201C"/>
                </a:solidFill>
                <a:latin typeface="Aptos"/>
              </a:defRPr>
            </a:pPr>
            <a:r>
              <a:t>The target customer is the operator who needs structure but cannot build this internally.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1170432"/>
            <a:ext cx="36118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D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170432"/>
            <a:ext cx="73152" cy="4526280"/>
          </a:xfrm>
          <a:prstGeom prst="rect">
            <a:avLst/>
          </a:prstGeom>
          <a:solidFill>
            <a:srgbClr val="1F8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19872" y="1508760"/>
            <a:ext cx="2971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F8A5B"/>
                </a:solidFill>
                <a:latin typeface="Aptos"/>
              </a:rPr>
              <a:t>Snapshot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048256"/>
            <a:ext cx="2834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6544F"/>
                </a:solidFill>
                <a:latin typeface="Aptos"/>
              </a:rPr>
              <a:t>ADVANTAGE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2295144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7201C"/>
                </a:solidFill>
                <a:latin typeface="Aptos"/>
              </a:rPr>
              <a:t>Real operating 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916936"/>
            <a:ext cx="2834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6544F"/>
                </a:solidFill>
                <a:latin typeface="Aptos"/>
              </a:rPr>
              <a:t>POSITION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3163824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7201C"/>
                </a:solidFill>
                <a:latin typeface="Aptos"/>
              </a:rPr>
              <a:t>Practical STR product studio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3785616"/>
            <a:ext cx="2834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6544F"/>
                </a:solidFill>
                <a:latin typeface="Aptos"/>
              </a:rPr>
              <a:t>BUYER 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4032504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7201C"/>
                </a:solidFill>
                <a:latin typeface="Aptos"/>
              </a:rPr>
              <a:t>Less chaos, better decisions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46520"/>
            <a:ext cx="4389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46544F"/>
                </a:solidFill>
                <a:latin typeface="Aptos"/>
              </a:rPr>
              <a:t>Lux Oasis Advisory product ecosystem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46520"/>
            <a:ext cx="502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6544F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8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621792"/>
            <a:ext cx="5394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D9A441"/>
                </a:solidFill>
                <a:latin typeface="Aptos"/>
              </a:rPr>
              <a:t>FUNDING DISCIPLINE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60120"/>
            <a:ext cx="7132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7201C"/>
                </a:solidFill>
                <a:latin typeface="Aptos"/>
              </a:rPr>
              <a:t>Capital should support proof and controlled growth.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048256"/>
            <a:ext cx="6629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7201C"/>
                </a:solidFill>
                <a:latin typeface="Aptos"/>
              </a:defRPr>
            </a:pPr>
            <a:r>
              <a:t>Good use: product safety fixes, QA and verified infrastructure.</a:t>
            </a:r>
          </a:p>
          <a:p>
            <a:pPr>
              <a:spcAft>
                <a:spcPts val="800"/>
              </a:spcAft>
              <a:defRPr sz="1500">
                <a:solidFill>
                  <a:srgbClr val="17201C"/>
                </a:solidFill>
                <a:latin typeface="Aptos"/>
              </a:defRPr>
            </a:pPr>
            <a:r>
              <a:t>Good use: Conviva proof pack, ORL data truth and Nest Match controlled beta.</a:t>
            </a:r>
          </a:p>
          <a:p>
            <a:pPr>
              <a:spcAft>
                <a:spcPts val="800"/>
              </a:spcAft>
              <a:defRPr sz="1500">
                <a:solidFill>
                  <a:srgbClr val="17201C"/>
                </a:solidFill>
                <a:latin typeface="Aptos"/>
              </a:defRPr>
            </a:pPr>
            <a:r>
              <a:t>Good use: targeted customer discovery and beta onboarding.</a:t>
            </a:r>
          </a:p>
          <a:p>
            <a:pPr>
              <a:spcAft>
                <a:spcPts val="800"/>
              </a:spcAft>
              <a:defRPr sz="1500">
                <a:solidFill>
                  <a:srgbClr val="17201C"/>
                </a:solidFill>
                <a:latin typeface="Aptos"/>
              </a:defRPr>
            </a:pPr>
            <a:r>
              <a:t>Bad use: broad marketing before blockers close, cosmetic polish debt or repayment pressure.</a:t>
            </a:r>
          </a:p>
          <a:p>
            <a:pPr>
              <a:spcAft>
                <a:spcPts val="800"/>
              </a:spcAft>
              <a:defRPr sz="1500">
                <a:solidFill>
                  <a:srgbClr val="17201C"/>
                </a:solidFill>
                <a:latin typeface="Aptos"/>
              </a:defRPr>
            </a:pPr>
            <a:r>
              <a:t>No heavy personal guarantees or financial commitments without explicit approval.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1170432"/>
            <a:ext cx="36118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D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170432"/>
            <a:ext cx="73152" cy="4526280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19872" y="1508760"/>
            <a:ext cx="2971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D9A441"/>
                </a:solidFill>
                <a:latin typeface="Aptos"/>
              </a:rPr>
              <a:t>Snapshot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048256"/>
            <a:ext cx="2834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6544F"/>
                </a:solidFill>
                <a:latin typeface="Aptos"/>
              </a:rPr>
              <a:t>USE FUNDS FOR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2295144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7201C"/>
                </a:solidFill>
                <a:latin typeface="Aptos"/>
              </a:rPr>
              <a:t>Proof and infrastructure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916936"/>
            <a:ext cx="2834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6544F"/>
                </a:solidFill>
                <a:latin typeface="Aptos"/>
              </a:rPr>
              <a:t>DO NOT FUND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3163824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7201C"/>
                </a:solidFill>
                <a:latin typeface="Aptos"/>
              </a:rPr>
              <a:t>Vanity launch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3785616"/>
            <a:ext cx="2834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6544F"/>
                </a:solidFill>
                <a:latin typeface="Aptos"/>
              </a:rPr>
              <a:t>RED 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4032504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7201C"/>
                </a:solidFill>
                <a:latin typeface="Aptos"/>
              </a:rPr>
              <a:t>Cash-buffer pressure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46520"/>
            <a:ext cx="4389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46544F"/>
                </a:solidFill>
                <a:latin typeface="Aptos"/>
              </a:rPr>
              <a:t>Lux Oasis Advisory product ecosystem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46520"/>
            <a:ext cx="502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6544F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8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621792"/>
            <a:ext cx="5394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F8A5B"/>
                </a:solidFill>
                <a:latin typeface="Aptos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60120"/>
            <a:ext cx="7132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7201C"/>
                </a:solidFill>
                <a:latin typeface="Aptos"/>
              </a:rPr>
              <a:t>Support a proof-led STR product ecosystem.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048256"/>
            <a:ext cx="6629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7201C"/>
                </a:solidFill>
                <a:latin typeface="Aptos"/>
              </a:defRPr>
            </a:pPr>
            <a:r>
              <a:t>Finish Conviva demo readiness.</a:t>
            </a:r>
          </a:p>
          <a:p>
            <a:pPr>
              <a:spcAft>
                <a:spcPts val="800"/>
              </a:spcAft>
              <a:defRPr sz="1500">
                <a:solidFill>
                  <a:srgbClr val="17201C"/>
                </a:solidFill>
                <a:latin typeface="Aptos"/>
              </a:defRPr>
            </a:pPr>
            <a:r>
              <a:t>Build ORL daily decision and owner-report loop.</a:t>
            </a:r>
          </a:p>
          <a:p>
            <a:pPr>
              <a:spcAft>
                <a:spcPts val="800"/>
              </a:spcAft>
              <a:defRPr sz="1500">
                <a:solidFill>
                  <a:srgbClr val="17201C"/>
                </a:solidFill>
                <a:latin typeface="Aptos"/>
              </a:defRPr>
            </a:pPr>
            <a:r>
              <a:t>Fix Nest Match P0 launch blockers.</a:t>
            </a:r>
          </a:p>
          <a:p>
            <a:pPr>
              <a:spcAft>
                <a:spcPts val="800"/>
              </a:spcAft>
              <a:defRPr sz="1500">
                <a:solidFill>
                  <a:srgbClr val="17201C"/>
                </a:solidFill>
                <a:latin typeface="Aptos"/>
              </a:defRPr>
            </a:pPr>
            <a:r>
              <a:t>Run controlled beta and pilot conversations.</a:t>
            </a:r>
          </a:p>
          <a:p>
            <a:pPr>
              <a:spcAft>
                <a:spcPts val="800"/>
              </a:spcAft>
              <a:defRPr sz="1500">
                <a:solidFill>
                  <a:srgbClr val="17201C"/>
                </a:solidFill>
                <a:latin typeface="Aptos"/>
              </a:defRPr>
            </a:pPr>
            <a:r>
              <a:t>Keep external sends, pricing changes, legal claims and funding commitments approval-gated.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1170432"/>
            <a:ext cx="36118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D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170432"/>
            <a:ext cx="73152" cy="4526280"/>
          </a:xfrm>
          <a:prstGeom prst="rect">
            <a:avLst/>
          </a:prstGeom>
          <a:solidFill>
            <a:srgbClr val="1F8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19872" y="1508760"/>
            <a:ext cx="2971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F8A5B"/>
                </a:solidFill>
                <a:latin typeface="Aptos"/>
              </a:rPr>
              <a:t>Snapshot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048256"/>
            <a:ext cx="2834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6544F"/>
                </a:solidFill>
                <a:latin typeface="Aptos"/>
              </a:rPr>
              <a:t>NEAR TERM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2295144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7201C"/>
                </a:solidFill>
                <a:latin typeface="Aptos"/>
              </a:rPr>
              <a:t>Proof pack and beta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916936"/>
            <a:ext cx="2834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6544F"/>
                </a:solidFill>
                <a:latin typeface="Aptos"/>
              </a:rPr>
              <a:t>MEDIUM TERM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3163824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7201C"/>
                </a:solidFill>
                <a:latin typeface="Aptos"/>
              </a:rPr>
              <a:t>Paid pilots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3785616"/>
            <a:ext cx="2834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6544F"/>
                </a:solidFill>
                <a:latin typeface="Aptos"/>
              </a:rPr>
              <a:t>LONG TERM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4032504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7201C"/>
                </a:solidFill>
                <a:latin typeface="Aptos"/>
              </a:rPr>
              <a:t>STR operating ecosystem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5358384"/>
            <a:ext cx="10680192" cy="731520"/>
          </a:xfrm>
          <a:prstGeom prst="roundRect">
            <a:avLst/>
          </a:prstGeom>
          <a:solidFill>
            <a:srgbClr val="17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5513832"/>
            <a:ext cx="10149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ptos"/>
              </a:rPr>
              <a:t>Lux Oasis Advisory builds practical operating products for short-term-rental operators: Conviva for guest operations, Oasis Revenue Lab for revenue decisions, and Nest Match for marketplace coordination.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46520"/>
            <a:ext cx="4389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46544F"/>
                </a:solidFill>
                <a:latin typeface="Aptos"/>
              </a:rPr>
              <a:t>Lux Oasis Advisory product ecosystem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446520"/>
            <a:ext cx="502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6544F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